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0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60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Заглавен слайд. Представяне пред агенция за недвижими имоти.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Проблемът е документиран, не предположен. Купувачът вече търси по вода; предлагането няма как да отговори.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Макет с примерни данни и без чужда търговска марка. Показва се на брокера, за да види къде точно се появява оценката.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Абонаментът е авансов. Забраната за избор пази пълнотата на каталога и обективността на данните.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Възнаграждението на агенцията е фиксирано — така няма стимул да се влияе на резултата.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Най-силният аргумент пред агенцията: предотвратената разпаднала се сделка.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Затварящ слайд. Офертата е трудна за отказване, защото не иска нито пари, нито ангажимент.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ПАРТНЬОРСКА ПРОГРАМА ЗА АГЕНЦИИ ЗА НЕДВИЖИМИ ИМОТИ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Водна оценка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имота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продукта, които правят селските ви обяви по-продаваеми — и отговарят на въпроса, който всеки купувач задава на огледа.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9659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 txBox="1"/>
          <p:nvPr/>
        </p:nvSpPr>
        <p:spPr>
          <a:xfrm>
            <a:off x="78181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869680" y="19659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3FA9A0"/>
          </a:solidFill>
          <a:ln w="12700">
            <a:solidFill>
              <a:srgbClr val="3FA9A0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6"/>
          <p:cNvSpPr txBox="1"/>
          <p:nvPr/>
        </p:nvSpPr>
        <p:spPr>
          <a:xfrm>
            <a:off x="886968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21240" y="19659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6E8A99"/>
          </a:solidFill>
          <a:ln w="12700">
            <a:solidFill>
              <a:srgbClr val="6E8A9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 txBox="1"/>
          <p:nvPr/>
        </p:nvSpPr>
        <p:spPr>
          <a:xfrm>
            <a:off x="992124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972800" y="196596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44606E"/>
          </a:solidFill>
          <a:ln w="12700">
            <a:solidFill>
              <a:srgbClr val="44606E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2" name="Text 10"/>
          <p:cNvSpPr txBox="1"/>
          <p:nvPr/>
        </p:nvSpPr>
        <p:spPr>
          <a:xfrm>
            <a:off x="1097280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имот получава клас от A до D,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дълбочинен диапазон и код за проверка.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Септември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ПРОБЛЕМЪТ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Купувачите търсят вода.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Обявите не могат да отговорят.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 txBox="1"/>
          <p:nvPr/>
        </p:nvSpPr>
        <p:spPr>
          <a:xfrm>
            <a:off x="960120" y="27614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58444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анализирани реални търсения на имоти. При селските имоти „собствен кладенец“, „извор“ и „граничещ с река“ са сред водещите критерии на купувачите.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407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Капитал / BULGARIAN PROPERTIES, май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26060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 txBox="1"/>
          <p:nvPr/>
        </p:nvSpPr>
        <p:spPr>
          <a:xfrm>
            <a:off x="6583680" y="27614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58444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селски оферти в най-големия портфейл у нас — и нито едно структурирано поле или филтър за вода в тях.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40740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BULGARIAN PROPERTIES, септември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0F3546"/>
          </a:solidFill>
          <a:ln w="12700">
            <a:solidFill>
              <a:srgbClr val="0F354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 txBox="1"/>
          <p:nvPr/>
        </p:nvSpPr>
        <p:spPr>
          <a:xfrm>
            <a:off x="1051560" y="507492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Купувачът пита на огледа. Брокерът не знае. Сделката се бави — или се разпада късно, когато всички вече са вложили време.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МАКЕТ · ТАКА ИЗГЛЕЖДА ПРИ ВАС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 ред в обявата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91072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ВОДНА ОЦЕНКА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57800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7" name="Shape 5"/>
          <p:cNvSpPr/>
          <p:nvPr/>
        </p:nvSpPr>
        <p:spPr>
          <a:xfrm>
            <a:off x="896112" y="2496312"/>
            <a:ext cx="4745736" cy="1143000"/>
          </a:xfrm>
          <a:prstGeom prst="rect">
            <a:avLst/>
          </a:prstGeom>
          <a:solidFill>
            <a:srgbClr val="DDE5E9"/>
          </a:solidFill>
          <a:ln w="12700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6"/>
          <p:cNvSpPr txBox="1"/>
          <p:nvPr/>
        </p:nvSpPr>
        <p:spPr>
          <a:xfrm>
            <a:off x="896112" y="2496312"/>
            <a:ext cx="4745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снимка на имота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€ 62 000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8679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118427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18795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Къща на село · с. Горна Василица, общ. Костенец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4805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кв.м  ·  парцел 850 кв.м  ·  2 етажа  ·  тухла  ·  1974 г.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4846320"/>
            <a:ext cx="4745736" cy="10973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 txBox="1"/>
          <p:nvPr/>
        </p:nvSpPr>
        <p:spPr>
          <a:xfrm>
            <a:off x="896112" y="4983480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информация за вода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2240280"/>
            <a:ext cx="5257800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BEE5DA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6" name="Shape 14"/>
          <p:cNvSpPr/>
          <p:nvPr/>
        </p:nvSpPr>
        <p:spPr>
          <a:xfrm>
            <a:off x="6547104" y="2496312"/>
            <a:ext cx="4745736" cy="1143000"/>
          </a:xfrm>
          <a:prstGeom prst="rect">
            <a:avLst/>
          </a:prstGeom>
          <a:solidFill>
            <a:srgbClr val="DDE5E9"/>
          </a:solidFill>
          <a:ln w="12700">
            <a:solidFill>
              <a:srgbClr val="DDE5E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 txBox="1"/>
          <p:nvPr/>
        </p:nvSpPr>
        <p:spPr>
          <a:xfrm>
            <a:off x="6547104" y="2496312"/>
            <a:ext cx="4745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снимка на имота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€ 62 000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9857232" y="38679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118427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47104" y="418795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Къща на село · с. Горна Василица, общ. Костенец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448056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кв.м  ·  парцел 850 кв.м  ·  2 етажа  ·  тухла  ·  1974 г.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47104" y="4846320"/>
            <a:ext cx="4745736" cy="10973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3" name="Shape 21"/>
          <p:cNvSpPr/>
          <p:nvPr/>
        </p:nvSpPr>
        <p:spPr>
          <a:xfrm>
            <a:off x="6547104" y="4965192"/>
            <a:ext cx="4745736" cy="566928"/>
          </a:xfrm>
          <a:prstGeom prst="roundRect">
            <a:avLst>
              <a:gd name="adj" fmla="val 9677"/>
            </a:avLst>
          </a:prstGeom>
          <a:solidFill>
            <a:srgbClr val="E8F6F1"/>
          </a:solidFill>
          <a:ln w="12700">
            <a:solidFill>
              <a:srgbClr val="BEE5D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4" name="Shape 22"/>
          <p:cNvSpPr/>
          <p:nvPr/>
        </p:nvSpPr>
        <p:spPr>
          <a:xfrm>
            <a:off x="6675120" y="503834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5" name="Text 23"/>
          <p:cNvSpPr txBox="1"/>
          <p:nvPr/>
        </p:nvSpPr>
        <p:spPr>
          <a:xfrm>
            <a:off x="6675120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50200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Водна оценка 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5239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28–36 м  ·  0,8–1,5 м³/ч  ·  код 4471-B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870448"/>
            <a:ext cx="10908792" cy="713232"/>
          </a:xfrm>
          <a:prstGeom prst="roundRect">
            <a:avLst>
              <a:gd name="adj" fmla="val 8974"/>
            </a:avLst>
          </a:prstGeom>
          <a:solidFill>
            <a:srgbClr val="0F3546"/>
          </a:solidFill>
          <a:ln w="12700">
            <a:solidFill>
              <a:srgbClr val="0F354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9" name="Shape 27"/>
          <p:cNvSpPr/>
          <p:nvPr/>
        </p:nvSpPr>
        <p:spPr>
          <a:xfrm>
            <a:off x="914400" y="603504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0" name="Text 28"/>
          <p:cNvSpPr txBox="1"/>
          <p:nvPr/>
        </p:nvSpPr>
        <p:spPr>
          <a:xfrm>
            <a:off x="914400" y="6035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Водна оценка: A–B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337560" y="58704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bg-BG" sz="1250" dirty="0">
                <a:solidFill>
                  <a:srgbClr val="C7D6DD"/>
                </a:solidFill>
                <a:latin typeface="Calibri" pitchFamily="34" charset="0"/>
                <a:cs typeface="Calibri" pitchFamily="34" charset="-120"/>
              </a:rPr>
              <a:t>Ново поле в обявата и нов филтър в търсачката — по критерий, по който купувачът вече търси,</a:t>
            </a:r>
          </a:p>
          <a:p>
            <a:r>
              <a:rPr lang="bg-BG" sz="1250" dirty="0">
                <a:solidFill>
                  <a:srgbClr val="C7D6DD"/>
                </a:solidFill>
                <a:latin typeface="Calibri" pitchFamily="34" charset="0"/>
                <a:cs typeface="Calibri" pitchFamily="34" charset="-120"/>
              </a:rPr>
              <a:t>но за който досега нямаше отметка.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1 · ПЛАЩА АГЕНЦИЯТА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Покритие на портфейла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ваш селски имот носи водна оценка. Аргументът, с който печелите ексклузивния договор.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67512" y="282549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6"/>
          <p:cNvSpPr txBox="1"/>
          <p:nvPr/>
        </p:nvSpPr>
        <p:spPr>
          <a:xfrm>
            <a:off x="950976" y="2697480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Водна оценка клас A–D на всяка селска обява в договорения район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7512" y="361188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 txBox="1"/>
          <p:nvPr/>
        </p:nvSpPr>
        <p:spPr>
          <a:xfrm>
            <a:off x="950976" y="3483864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елемент за обявата, едностраничен PDF за клиента и публичен код за проверка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" y="439826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2" name="Text 10"/>
          <p:cNvSpPr txBox="1"/>
          <p:nvPr/>
        </p:nvSpPr>
        <p:spPr>
          <a:xfrm>
            <a:off x="950976" y="4270248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до 5 работни дни; при 3 и повече обекта в един район — до 3 дни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512" y="518464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 txBox="1"/>
          <p:nvPr/>
        </p:nvSpPr>
        <p:spPr>
          <a:xfrm>
            <a:off x="950976" y="5056632"/>
            <a:ext cx="5266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Конкурентната агенция няма какво да сложи насреща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4828032" cy="731520"/>
          </a:xfrm>
          <a:prstGeom prst="roundRect">
            <a:avLst>
              <a:gd name="adj" fmla="val 8750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6" name="Text 14"/>
          <p:cNvSpPr txBox="1"/>
          <p:nvPr/>
        </p:nvSpPr>
        <p:spPr>
          <a:xfrm>
            <a:off x="6949440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обекта / месец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606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€950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26060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€190 / обект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447288"/>
            <a:ext cx="4828032" cy="731520"/>
          </a:xfrm>
          <a:prstGeom prst="roundRect">
            <a:avLst>
              <a:gd name="adj" fmla="val 8750"/>
            </a:avLst>
          </a:prstGeom>
          <a:solidFill>
            <a:srgbClr val="0F3546"/>
          </a:solidFill>
          <a:ln w="12700">
            <a:solidFill>
              <a:srgbClr val="0F3546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1" name="Text 19"/>
          <p:cNvSpPr txBox="1"/>
          <p:nvPr/>
        </p:nvSpPr>
        <p:spPr>
          <a:xfrm>
            <a:off x="6949440" y="344728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447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12 обекта / месец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4472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€2 040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344728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€170 / обект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4288536"/>
            <a:ext cx="4828032" cy="731520"/>
          </a:xfrm>
          <a:prstGeom prst="roundRect">
            <a:avLst>
              <a:gd name="adj" fmla="val 8750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6" name="Text 24"/>
          <p:cNvSpPr txBox="1"/>
          <p:nvPr/>
        </p:nvSpPr>
        <p:spPr>
          <a:xfrm>
            <a:off x="6949440" y="428853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28853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25 обекта / месец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428853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€3 750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4288536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 / обект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5175504"/>
            <a:ext cx="4828032" cy="1298448"/>
          </a:xfrm>
          <a:prstGeom prst="roundRect">
            <a:avLst>
              <a:gd name="adj" fmla="val 4225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1" name="Text 29"/>
          <p:cNvSpPr txBox="1"/>
          <p:nvPr/>
        </p:nvSpPr>
        <p:spPr>
          <a:xfrm>
            <a:off x="6976872" y="534009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ЗА ПЛАЩАНЕ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5596128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Авансово до 5-о число  ·  Минимален срок 6 месеца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Неизползваните обекти не се прехвърлят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Покриват се всички селски обяви в района  ·  Цени без ДДС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7044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желаете да избирате кои обяви да се измерят, цената е €240 на обект.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Първите два месеца — с 50% отстъпка след пилота.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2 · ПЛАЩА ПРОДАВАЧЪТ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на имота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продавача, който иска имотът му да се продаде по-бързо. Вие го предлагате, ние го изпълняваме.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67512" y="282549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8" name="Text 6"/>
          <p:cNvSpPr txBox="1"/>
          <p:nvPr/>
        </p:nvSpPr>
        <p:spPr>
          <a:xfrm>
            <a:off x="950976" y="2697480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A–D с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дълбочинен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7512" y="339242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0" name="Text 8"/>
          <p:cNvSpPr txBox="1"/>
          <p:nvPr/>
        </p:nvSpPr>
        <p:spPr>
          <a:xfrm>
            <a:off x="950976" y="3264408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за прилагане към обявата и публичен код за проверка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2" name="Text 10"/>
          <p:cNvSpPr txBox="1"/>
          <p:nvPr/>
        </p:nvSpPr>
        <p:spPr>
          <a:xfrm>
            <a:off x="950976" y="3831336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отговор на въпроса, който всеки купувач задава на огледа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20840" y="2697480"/>
            <a:ext cx="4828032" cy="1600200"/>
          </a:xfrm>
          <a:prstGeom prst="roundRect">
            <a:avLst>
              <a:gd name="adj" fmla="val 4571"/>
            </a:avLst>
          </a:prstGeom>
          <a:solidFill>
            <a:srgbClr val="0F3546"/>
          </a:solidFill>
          <a:ln w="12700">
            <a:solidFill>
              <a:srgbClr val="0F3546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 txBox="1"/>
          <p:nvPr/>
        </p:nvSpPr>
        <p:spPr>
          <a:xfrm>
            <a:off x="7040880" y="2852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ДДС, за имот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64040" y="2971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B4459"/>
          </a:solidFill>
          <a:ln w="12700">
            <a:solidFill>
              <a:srgbClr val="1B44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 txBox="1"/>
          <p:nvPr/>
        </p:nvSpPr>
        <p:spPr>
          <a:xfrm>
            <a:off x="94640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493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агенцията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всяка оценка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434840"/>
            <a:ext cx="4828032" cy="1298448"/>
          </a:xfrm>
          <a:prstGeom prst="roundRect">
            <a:avLst>
              <a:gd name="adj" fmla="val 4225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0" name="Text 18"/>
          <p:cNvSpPr txBox="1"/>
          <p:nvPr/>
        </p:nvSpPr>
        <p:spPr>
          <a:xfrm>
            <a:off x="6976872" y="4599432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ЗА ПЛАЩАНЕ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485546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Плаща се при заявка, преди излизане на терен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Фактурира се на продавача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Възнаграждението на агенцията не зависи от класа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7200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919472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4" name="Text 22"/>
          <p:cNvSpPr txBox="1"/>
          <p:nvPr/>
        </p:nvSpPr>
        <p:spPr>
          <a:xfrm>
            <a:off x="64008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9011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Предлагате я при подписване на договора с продавача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376672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7" name="Text 25"/>
          <p:cNvSpPr txBox="1"/>
          <p:nvPr/>
        </p:nvSpPr>
        <p:spPr>
          <a:xfrm>
            <a:off x="640080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53583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Продавачът плаща при заявка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833872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0" name="Text 28"/>
          <p:cNvSpPr txBox="1"/>
          <p:nvPr/>
        </p:nvSpPr>
        <p:spPr>
          <a:xfrm>
            <a:off x="640080" y="5833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" y="58155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Оценката е готова до 5 работни дни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3 · ПЛАЩА КУПУВАЧЪТ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преди капаро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Купувачът разбира какво купува, преди да плати. Сделките не се разпадат в последния момент.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651759"/>
            <a:ext cx="5266944" cy="204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Tри </a:t>
            </a:r>
            <a:r>
              <a:rPr lang="bg-BG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датаилни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измервания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bg-BG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прецизна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потенциала за добив при сондаж на място.</a:t>
            </a:r>
          </a:p>
          <a:p>
            <a:pPr>
              <a:lnSpc>
                <a:spcPts val="2000"/>
              </a:lnSpc>
            </a:pPr>
            <a:endParaRPr lang="bg-BG" sz="1450" dirty="0">
              <a:solidFill>
                <a:srgbClr val="1632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000"/>
              </a:lnSpc>
            </a:pP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Гаранция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копае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посочената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водата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потвърди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връщаме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</a:t>
            </a:r>
            <a:endParaRPr lang="bg-BG" sz="1450" dirty="0">
              <a:solidFill>
                <a:srgbClr val="1632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000"/>
              </a:lnSpc>
            </a:pPr>
            <a:endParaRPr lang="bg-BG" sz="1450" dirty="0">
              <a:solidFill>
                <a:srgbClr val="1632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000"/>
              </a:lnSpc>
            </a:pP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работни</a:t>
            </a:r>
            <a:r>
              <a:rPr lang="en-US" sz="14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</a:t>
            </a:r>
            <a:endParaRPr lang="en-US" sz="1450" dirty="0"/>
          </a:p>
          <a:p>
            <a:pPr>
              <a:lnSpc>
                <a:spcPts val="2000"/>
              </a:lnSpc>
            </a:pPr>
            <a:endParaRPr lang="en-US" sz="1450" dirty="0"/>
          </a:p>
          <a:p>
            <a:pPr>
              <a:lnSpc>
                <a:spcPts val="2000"/>
              </a:lnSpc>
            </a:pP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261104"/>
            <a:ext cx="5266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720840" y="2697480"/>
            <a:ext cx="4828032" cy="1600200"/>
          </a:xfrm>
          <a:prstGeom prst="roundRect">
            <a:avLst>
              <a:gd name="adj" fmla="val 4571"/>
            </a:avLst>
          </a:prstGeom>
          <a:solidFill>
            <a:srgbClr val="0F3546"/>
          </a:solidFill>
          <a:ln w="12700">
            <a:solidFill>
              <a:srgbClr val="0F3546"/>
            </a:solidFill>
            <a:prstDash val="solid"/>
          </a:ln>
          <a:effectLst>
            <a:outerShdw blurRad="127000" dist="25400" dir="5400000" algn="bl" rotWithShape="0">
              <a:srgbClr val="0F3546">
                <a:alpha val="10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 txBox="1"/>
          <p:nvPr/>
        </p:nvSpPr>
        <p:spPr>
          <a:xfrm>
            <a:off x="7040880" y="28529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€390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ДДС, за имот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64040" y="2971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B4459"/>
          </a:solidFill>
          <a:ln w="12700">
            <a:solidFill>
              <a:srgbClr val="1B44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 txBox="1"/>
          <p:nvPr/>
        </p:nvSpPr>
        <p:spPr>
          <a:xfrm>
            <a:off x="94640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€260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4930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имотът вече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има водна оценка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434840"/>
            <a:ext cx="4828032" cy="1298448"/>
          </a:xfrm>
          <a:prstGeom prst="roundRect">
            <a:avLst>
              <a:gd name="adj" fmla="val 4225"/>
            </a:avLst>
          </a:prstGeom>
          <a:solidFill>
            <a:srgbClr val="F2F5F7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0" name="Text 18"/>
          <p:cNvSpPr txBox="1"/>
          <p:nvPr/>
        </p:nvSpPr>
        <p:spPr>
          <a:xfrm>
            <a:off x="6976872" y="4599432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ЗА ПЛАЩАНЕ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485546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Плаща се при заявка  ·  €40 за агенцията, фиксирано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Гаранцията важи при предоставен сондажен протокол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несъстояла се сделка докладът остава на купувача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E8F6F1"/>
          </a:solidFill>
          <a:ln w="12700">
            <a:solidFill>
              <a:srgbClr val="BEE5DA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3" name="Text 21"/>
          <p:cNvSpPr txBox="1"/>
          <p:nvPr/>
        </p:nvSpPr>
        <p:spPr>
          <a:xfrm>
            <a:off x="960120" y="513892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Една селска сделка, която се разваля заради вода, струва на агенцията цялата комисиона. Тази проверка я предпазва за €390 — платени от купувача.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АНГАЖИМЕНТ И БЕЗ ПЛАЩАНЕ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започваме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16404F"/>
          </a:solidFill>
          <a:ln w="12700">
            <a:solidFill>
              <a:srgbClr val="1F506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5" name="Text 3"/>
          <p:cNvSpPr txBox="1"/>
          <p:nvPr/>
        </p:nvSpPr>
        <p:spPr>
          <a:xfrm>
            <a:off x="914400" y="2578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Десет обяви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12464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ми десетте най-трудни за продажба селски имота от портфейла си.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3774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16404F"/>
          </a:solidFill>
          <a:ln w="12700">
            <a:solidFill>
              <a:srgbClr val="1F506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 txBox="1"/>
          <p:nvPr/>
        </p:nvSpPr>
        <p:spPr>
          <a:xfrm>
            <a:off x="3685032" y="2578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3108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Измерваме безплатно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3712464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рамките на три седмици всеки от тях получава водна оценка и код за проверка.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23774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16404F"/>
          </a:solidFill>
          <a:ln w="12700">
            <a:solidFill>
              <a:srgbClr val="1F506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 txBox="1"/>
          <p:nvPr/>
        </p:nvSpPr>
        <p:spPr>
          <a:xfrm>
            <a:off x="6455664" y="2578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08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Сравняваме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3712464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 два месеца поглеждаме запитванията по тези десет спрямо останалите ви обяви.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1976" y="237744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16404F"/>
          </a:solidFill>
          <a:ln w="12700">
            <a:solidFill>
              <a:srgbClr val="1F5063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5"/>
          <p:cNvSpPr txBox="1"/>
          <p:nvPr/>
        </p:nvSpPr>
        <p:spPr>
          <a:xfrm>
            <a:off x="9226296" y="25786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108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Вие решавате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712464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няма разлика, не дължите нищо и повече не ви търся.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Единственото, което искам в замяна, е правото да публикувам резултата от сравнението.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[име] · [телефон] · [имейл]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939</Words>
  <Application>Microsoft Office PowerPoint</Application>
  <PresentationFormat>Widescreen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 Gavrailov</cp:lastModifiedBy>
  <cp:revision>3</cp:revision>
  <dcterms:created xsi:type="dcterms:W3CDTF">2026-09-07T07:58:03Z</dcterms:created>
  <dcterms:modified xsi:type="dcterms:W3CDTF">2026-09-07T10:41:31Z</dcterms:modified>
</cp:coreProperties>
</file>